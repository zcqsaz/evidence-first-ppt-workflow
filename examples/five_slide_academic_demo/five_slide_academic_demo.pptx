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987552"/>
            <a:ext cx="1005840" cy="50292"/>
          </a:xfrm>
          <a:prstGeom prst="rect">
            <a:avLst/>
          </a:prstGeom>
          <a:solidFill>
            <a:srgbClr val="C4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23444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C7A5A"/>
                </a:solidFill>
                <a:latin typeface="Microsoft YaHei"/>
              </a:rPr>
              <a:t>EVIDENCE-FIRST PPT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700784"/>
            <a:ext cx="6400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Microsoft YaHei"/>
              </a:rPr>
              <a:t>学术PPT制作
五页示例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D9E4EC"/>
                </a:solidFill>
                <a:latin typeface="Microsoft YaHei"/>
              </a:rPr>
              <a:t>从页面任务、素材证据到可交付文件的最小闭环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13632"/>
            <a:ext cx="1143000" cy="329184"/>
          </a:xfrm>
          <a:prstGeom prst="rect">
            <a:avLst/>
          </a:prstGeom>
          <a:solidFill>
            <a:srgbClr val="2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1143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可复用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3913632"/>
            <a:ext cx="1143000" cy="329184"/>
          </a:xfrm>
          <a:prstGeom prst="rect">
            <a:avLst/>
          </a:prstGeom>
          <a:solidFill>
            <a:srgbClr val="C4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977639"/>
            <a:ext cx="1143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可审计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3913632"/>
            <a:ext cx="1572768" cy="329184"/>
          </a:xfrm>
          <a:prstGeom prst="rect">
            <a:avLst/>
          </a:prstGeom>
          <a:solidFill>
            <a:srgbClr val="2E5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3977639"/>
            <a:ext cx="15727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无机构模板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6519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8C7D6"/>
                </a:solidFill>
                <a:latin typeface="Microsoft YaHei"/>
              </a:rPr>
              <a:t>本示例只使用原创文字、原生表格与关系图；不含机构标识、个人信息、真实项目材料或第三方图件。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760720"/>
            <a:ext cx="5029200" cy="14630"/>
          </a:xfrm>
          <a:prstGeom prst="rect">
            <a:avLst/>
          </a:prstGeom>
          <a:solidFill>
            <a:srgbClr val="36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9BB0C4"/>
                </a:solidFill>
                <a:latin typeface="Microsoft YaHei"/>
              </a:rPr>
              <a:t>Source: Evidence-First PPT Workflow v1.0.2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6168" y="598932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C7A5A"/>
                </a:solidFill>
                <a:latin typeface="Microsoft YaHei"/>
              </a:rPr>
              <a:t>汇报提纲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02A43"/>
                </a:solidFill>
                <a:latin typeface="Microsoft YaHei"/>
              </a:rPr>
              <a:t>从制作顺序开始控制质量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658368" cy="41148"/>
          </a:xfrm>
          <a:prstGeom prst="rect">
            <a:avLst/>
          </a:prstGeom>
          <a:solidFill>
            <a:srgbClr val="C4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9888" y="923544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Microsoft YaHei"/>
              </a:rPr>
              <a:t>先冻结论证任务与证据边界，后决定素材和排版。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517904"/>
            <a:ext cx="54864" cy="502920"/>
          </a:xfrm>
          <a:prstGeom prst="rect">
            <a:avLst/>
          </a:prstGeom>
          <a:solidFill>
            <a:srgbClr val="C6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63D3D"/>
                </a:solidFill>
                <a:latin typeface="Microsoft YaHei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48132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63D3D"/>
                </a:solidFill>
                <a:latin typeface="Microsoft YaHei"/>
              </a:rPr>
              <a:t>确定单页任务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764792"/>
            <a:ext cx="45262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C6B7A"/>
                </a:solidFill>
                <a:latin typeface="Microsoft YaHei"/>
              </a:rPr>
              <a:t>每页先写结论、证据与适用边界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76856"/>
            <a:ext cx="54864" cy="5029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40280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A43"/>
                </a:solidFill>
                <a:latin typeface="Microsoft YaHei"/>
              </a:rPr>
              <a:t>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24028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2A43"/>
                </a:solidFill>
                <a:latin typeface="Microsoft YaHei"/>
              </a:rPr>
              <a:t>审计真实素材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523744"/>
            <a:ext cx="45262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C6B7A"/>
                </a:solidFill>
                <a:latin typeface="Microsoft YaHei"/>
              </a:rPr>
              <a:t>确认图号、变量、版本、权利与完整性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35808"/>
            <a:ext cx="54864" cy="5029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999232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A43"/>
                </a:solidFill>
                <a:latin typeface="Microsoft YaHei"/>
              </a:rPr>
              <a:t>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299923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2A43"/>
                </a:solidFill>
                <a:latin typeface="Microsoft YaHei"/>
              </a:rPr>
              <a:t>构建图文关系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282696"/>
            <a:ext cx="45262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C6B7A"/>
                </a:solidFill>
                <a:latin typeface="Microsoft YaHei"/>
              </a:rPr>
              <a:t>让主视觉、文字解释和来源承担不同角色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794759"/>
            <a:ext cx="54864" cy="5029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58183"/>
            <a:ext cx="320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A43"/>
                </a:solidFill>
                <a:latin typeface="Microsoft YaHei"/>
              </a:rPr>
              <a:t>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758183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2A43"/>
                </a:solidFill>
                <a:latin typeface="Microsoft YaHei"/>
              </a:rPr>
              <a:t>执行QA与交付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041647"/>
            <a:ext cx="45262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C6B7A"/>
                </a:solidFill>
                <a:latin typeface="Microsoft YaHei"/>
              </a:rPr>
              <a:t>结构检查、全量渲染、人工审阅和哈希一致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3952" y="1463040"/>
            <a:ext cx="27432" cy="3246120"/>
          </a:xfrm>
          <a:prstGeom prst="rect">
            <a:avLst/>
          </a:prstGeom>
          <a:solidFill>
            <a:srgbClr val="C4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144475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A43"/>
                </a:solidFill>
                <a:latin typeface="Microsoft YaHei"/>
              </a:rPr>
              <a:t>本示例的制作约束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196596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C7A5A"/>
                </a:solidFill>
                <a:latin typeface="Microsoft YaHe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1965960"/>
            <a:ext cx="4160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72033"/>
                </a:solidFill>
                <a:latin typeface="Microsoft YaHei"/>
              </a:rPr>
              <a:t>不把项目申请语言、内部制作提示或无来源图片写入页面；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2587752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C7A5A"/>
                </a:solidFill>
                <a:latin typeface="Microsoft YaHe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2587752"/>
            <a:ext cx="4160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72033"/>
                </a:solidFill>
                <a:latin typeface="Microsoft YaHei"/>
              </a:rPr>
              <a:t>不以浅色卡片、放大标题或重复图形伪造“简洁”；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3209544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C7A5A"/>
                </a:solidFill>
                <a:latin typeface="Microsoft YaHe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3209544"/>
            <a:ext cx="4160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72033"/>
                </a:solidFill>
                <a:latin typeface="Microsoft YaHei"/>
              </a:rPr>
              <a:t>所有正文使用统一字体；页码按页面几何中心定位；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3831335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C7A5A"/>
                </a:solidFill>
                <a:latin typeface="Microsoft YaHe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831335"/>
            <a:ext cx="4160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72033"/>
                </a:solidFill>
                <a:latin typeface="Microsoft YaHei"/>
              </a:rPr>
              <a:t>示例图形只解释PPT生产关系，不冒充真实科学观测。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166360"/>
            <a:ext cx="10195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2A43"/>
                </a:solidFill>
                <a:latin typeface="Microsoft YaHei"/>
              </a:rPr>
              <a:t>导航规则：当前部分用红色高亮；进入下一部分前，目录再次出现并更新高亮。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190488"/>
            <a:ext cx="11000232" cy="10972"/>
          </a:xfrm>
          <a:prstGeom prst="rect">
            <a:avLst/>
          </a:prstGeom>
          <a:solidFill>
            <a:srgbClr val="CA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318504"/>
            <a:ext cx="5257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5C6B7A"/>
                </a:solidFill>
                <a:latin typeface="Microsoft YaHei"/>
              </a:rPr>
              <a:t>Source: Evidence-First PPT Workflow v1.0.2 · 示例内容为原创制作规范。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16168" y="631850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02A43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C7A5A"/>
                </a:solidFill>
                <a:latin typeface="Microsoft YaHei"/>
              </a:rPr>
              <a:t>一、页面规格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02A43"/>
                </a:solidFill>
                <a:latin typeface="Microsoft YaHei"/>
              </a:rPr>
              <a:t>先定义一页要完成的推理，再开始排版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658368" cy="41148"/>
          </a:xfrm>
          <a:prstGeom prst="rect">
            <a:avLst/>
          </a:prstGeom>
          <a:solidFill>
            <a:srgbClr val="C4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9888" y="923544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Microsoft YaHei"/>
              </a:rPr>
              <a:t>一页不是知识点堆栈；它应以一个可验证结论组织证据、解释与边界。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463040"/>
            <a:ext cx="786384" cy="576072"/>
          </a:xfrm>
          <a:prstGeom prst="rect">
            <a:avLst/>
          </a:prstGeom>
          <a:solidFill>
            <a:srgbClr val="2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36776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0784" y="1481328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A43"/>
                </a:solidFill>
                <a:latin typeface="Microsoft YaHei"/>
              </a:rPr>
              <a:t>受众问题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0784" y="1746504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C6B7A"/>
                </a:solidFill>
                <a:latin typeface="Microsoft YaHei"/>
              </a:rPr>
              <a:t>观众此刻需要理解、比较或判断什么？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2075688"/>
            <a:ext cx="45720" cy="155448"/>
          </a:xfrm>
          <a:prstGeom prst="rect">
            <a:avLst/>
          </a:prstGeom>
          <a:solidFill>
            <a:srgbClr val="CA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249424"/>
            <a:ext cx="786384" cy="576072"/>
          </a:xfrm>
          <a:prstGeom prst="rect">
            <a:avLst/>
          </a:prstGeom>
          <a:solidFill>
            <a:srgbClr val="C4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42316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2267712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A43"/>
                </a:solidFill>
                <a:latin typeface="Microsoft YaHei"/>
              </a:rPr>
              <a:t>最小结论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2532888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C6B7A"/>
                </a:solidFill>
                <a:latin typeface="Microsoft YaHei"/>
              </a:rPr>
              <a:t>本页在不夸大事实的前提下能够证明什么？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" y="2862072"/>
            <a:ext cx="45720" cy="155448"/>
          </a:xfrm>
          <a:prstGeom prst="rect">
            <a:avLst/>
          </a:prstGeom>
          <a:solidFill>
            <a:srgbClr val="CA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035808"/>
            <a:ext cx="786384" cy="576072"/>
          </a:xfrm>
          <a:prstGeom prst="rect">
            <a:avLst/>
          </a:prstGeom>
          <a:solidFill>
            <a:srgbClr val="2E5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209544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0784" y="3054096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A43"/>
                </a:solidFill>
                <a:latin typeface="Microsoft YaHei"/>
              </a:rPr>
              <a:t>证据资产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0784" y="3319272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C6B7A"/>
                </a:solidFill>
                <a:latin typeface="Microsoft YaHei"/>
              </a:rPr>
              <a:t>哪一幅完整图、公式、表格或文本直接支撑结论？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" y="3648456"/>
            <a:ext cx="45720" cy="155448"/>
          </a:xfrm>
          <a:prstGeom prst="rect">
            <a:avLst/>
          </a:prstGeom>
          <a:solidFill>
            <a:srgbClr val="CA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822191"/>
            <a:ext cx="786384" cy="576072"/>
          </a:xfrm>
          <a:prstGeom prst="rect">
            <a:avLst/>
          </a:prstGeom>
          <a:solidFill>
            <a:srgbClr val="C6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995928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0784" y="3840479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A43"/>
                </a:solidFill>
                <a:latin typeface="Microsoft YaHei"/>
              </a:rPr>
              <a:t>适用边界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0784" y="4105655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C6B7A"/>
                </a:solidFill>
                <a:latin typeface="Microsoft YaHei"/>
              </a:rPr>
              <a:t>参数、尺度、误差与引用应怎样限制结论？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85232" y="1463040"/>
            <a:ext cx="27432" cy="3355848"/>
          </a:xfrm>
          <a:prstGeom prst="rect">
            <a:avLst/>
          </a:prstGeom>
          <a:solidFill>
            <a:srgbClr val="C4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1426464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A43"/>
                </a:solidFill>
                <a:latin typeface="Microsoft YaHei"/>
              </a:rPr>
              <a:t>页面规格至少写清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1901952"/>
            <a:ext cx="10972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C7A5A"/>
                </a:solidFill>
                <a:latin typeface="Microsoft YaHei"/>
              </a:rPr>
              <a:t>页面功能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1901952"/>
            <a:ext cx="42519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033"/>
                </a:solidFill>
                <a:latin typeface="Microsoft YaHei"/>
              </a:rPr>
              <a:t>建立、比较、推导、诊断、验证或迁移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2432304"/>
            <a:ext cx="10972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C7A5A"/>
                </a:solidFill>
                <a:latin typeface="Microsoft YaHei"/>
              </a:rPr>
              <a:t>核心内容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8272" y="2432304"/>
            <a:ext cx="42519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033"/>
                </a:solidFill>
                <a:latin typeface="Microsoft YaHei"/>
              </a:rPr>
              <a:t>不少于四条有实质含义的知识点或观察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2962656"/>
            <a:ext cx="10972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C7A5A"/>
                </a:solidFill>
                <a:latin typeface="Microsoft YaHei"/>
              </a:rPr>
              <a:t>视觉中心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2962656"/>
            <a:ext cx="42519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033"/>
                </a:solidFill>
                <a:latin typeface="Microsoft YaHei"/>
              </a:rPr>
              <a:t>一项主要证据，而不是多个互不相关的装饰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3493008"/>
            <a:ext cx="10972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C7A5A"/>
                </a:solidFill>
                <a:latin typeface="Microsoft YaHei"/>
              </a:rPr>
              <a:t>页内引用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3493008"/>
            <a:ext cx="42519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033"/>
                </a:solidFill>
                <a:latin typeface="Microsoft YaHei"/>
              </a:rPr>
              <a:t>图题、DOI/官方页面或方法文献可追溯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4023360"/>
            <a:ext cx="10972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C7A5A"/>
                </a:solidFill>
                <a:latin typeface="Microsoft YaHei"/>
              </a:rPr>
              <a:t>验收条件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4023360"/>
            <a:ext cx="42519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72033"/>
                </a:solidFill>
                <a:latin typeface="Microsoft YaHei"/>
              </a:rPr>
              <a:t>完整显示、可读、无重叠、结论与证据匹配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212080"/>
            <a:ext cx="10287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2A43"/>
                </a:solidFill>
                <a:latin typeface="Microsoft YaHei"/>
              </a:rPr>
              <a:t>结论：先冻结页面规格，能显著减少后期因为“图不对文、内容太空或标题越界”产生的返工。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6190488"/>
            <a:ext cx="11000232" cy="10972"/>
          </a:xfrm>
          <a:prstGeom prst="rect">
            <a:avLst/>
          </a:prstGeom>
          <a:solidFill>
            <a:srgbClr val="CA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6318504"/>
            <a:ext cx="5257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5C6B7A"/>
                </a:solidFill>
                <a:latin typeface="Microsoft YaHei"/>
              </a:rPr>
              <a:t>Source: Evidence-First PPT Workflow v1.0.2 · 页面规格与内容密度标准。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16168" y="631850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02A43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C7A5A"/>
                </a:solidFill>
                <a:latin typeface="Microsoft YaHei"/>
              </a:rPr>
              <a:t>二、素材审计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02A43"/>
                </a:solidFill>
                <a:latin typeface="Microsoft YaHei"/>
              </a:rPr>
              <a:t>素材“相关”不足以成为页面证据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658368" cy="41148"/>
          </a:xfrm>
          <a:prstGeom prst="rect">
            <a:avLst/>
          </a:prstGeom>
          <a:solidFill>
            <a:srgbClr val="C4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9888" y="923544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Microsoft YaHei"/>
              </a:rPr>
              <a:t>每一幅进入PPT的期刊图或官方图，都要同时通过科学归属、显示完整性和使用权利审计。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481328"/>
            <a:ext cx="5577840" cy="530352"/>
          </a:xfrm>
          <a:prstGeom prst="rect">
            <a:avLst/>
          </a:prstGeom>
          <a:solidFill>
            <a:srgbClr val="102A43"/>
          </a:solidFill>
          <a:ln w="9525"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56815" y="1481328"/>
            <a:ext cx="9144" cy="530352"/>
          </a:xfrm>
          <a:prstGeom prst="rect">
            <a:avLst/>
          </a:prstGeom>
          <a:solidFill>
            <a:srgbClr val="CA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31336" y="1481328"/>
            <a:ext cx="9144" cy="530352"/>
          </a:xfrm>
          <a:prstGeom prst="rect">
            <a:avLst/>
          </a:prstGeom>
          <a:solidFill>
            <a:srgbClr val="CA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011680"/>
            <a:ext cx="5577840" cy="530352"/>
          </a:xfrm>
          <a:prstGeom prst="rect">
            <a:avLst/>
          </a:prstGeom>
          <a:solidFill>
            <a:srgbClr val="F3F6F8"/>
          </a:solidFill>
          <a:ln w="9525"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56815" y="2011680"/>
            <a:ext cx="9144" cy="530352"/>
          </a:xfrm>
          <a:prstGeom prst="rect">
            <a:avLst/>
          </a:prstGeom>
          <a:solidFill>
            <a:srgbClr val="CA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31336" y="2011680"/>
            <a:ext cx="9144" cy="530352"/>
          </a:xfrm>
          <a:prstGeom prst="rect">
            <a:avLst/>
          </a:prstGeom>
          <a:solidFill>
            <a:srgbClr val="CA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542032"/>
            <a:ext cx="5577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56815" y="2542032"/>
            <a:ext cx="9144" cy="530352"/>
          </a:xfrm>
          <a:prstGeom prst="rect">
            <a:avLst/>
          </a:prstGeom>
          <a:solidFill>
            <a:srgbClr val="CA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31336" y="2542032"/>
            <a:ext cx="9144" cy="530352"/>
          </a:xfrm>
          <a:prstGeom prst="rect">
            <a:avLst/>
          </a:prstGeom>
          <a:solidFill>
            <a:srgbClr val="CA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072384"/>
            <a:ext cx="5577840" cy="530352"/>
          </a:xfrm>
          <a:prstGeom prst="rect">
            <a:avLst/>
          </a:prstGeom>
          <a:solidFill>
            <a:srgbClr val="F3F6F8"/>
          </a:solidFill>
          <a:ln w="9525"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56815" y="3072384"/>
            <a:ext cx="9144" cy="530352"/>
          </a:xfrm>
          <a:prstGeom prst="rect">
            <a:avLst/>
          </a:prstGeom>
          <a:solidFill>
            <a:srgbClr val="CA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31336" y="3072384"/>
            <a:ext cx="9144" cy="530352"/>
          </a:xfrm>
          <a:prstGeom prst="rect">
            <a:avLst/>
          </a:prstGeom>
          <a:solidFill>
            <a:srgbClr val="CA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602736"/>
            <a:ext cx="5577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A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56815" y="3602736"/>
            <a:ext cx="9144" cy="530352"/>
          </a:xfrm>
          <a:prstGeom prst="rect">
            <a:avLst/>
          </a:prstGeom>
          <a:solidFill>
            <a:srgbClr val="CA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31336" y="3602736"/>
            <a:ext cx="9144" cy="530352"/>
          </a:xfrm>
          <a:prstGeom prst="rect">
            <a:avLst/>
          </a:prstGeom>
          <a:solidFill>
            <a:srgbClr val="CA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1627632"/>
            <a:ext cx="1115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审计维度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66543" y="1627632"/>
            <a:ext cx="16916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必须回答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41064" y="1627632"/>
            <a:ext cx="22219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不通过时的动作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212140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172033"/>
                </a:solidFill>
                <a:latin typeface="Microsoft YaHei"/>
              </a:rPr>
              <a:t>归属与变量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66543" y="2121408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72033"/>
                </a:solidFill>
                <a:latin typeface="Microsoft YaHei"/>
              </a:rPr>
              <a:t>项目、图号、变量、单位是否明确？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41064" y="2121408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72033"/>
                </a:solidFill>
                <a:latin typeface="Microsoft YaHei"/>
              </a:rPr>
              <a:t>回到论文/官方页；不能猜测。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2651760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172033"/>
                </a:solidFill>
                <a:latin typeface="Microsoft YaHei"/>
              </a:rPr>
              <a:t>时间与空间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66543" y="2651760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72033"/>
                </a:solidFill>
                <a:latin typeface="Microsoft YaHei"/>
              </a:rPr>
              <a:t>时间、区域、分辨率和产品性质是否明确？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41064" y="2651760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72033"/>
                </a:solidFill>
                <a:latin typeface="Microsoft YaHei"/>
              </a:rPr>
              <a:t>补充图题或更换素材。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318211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172033"/>
                </a:solidFill>
                <a:latin typeface="Microsoft YaHei"/>
              </a:rPr>
              <a:t>显示完整性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66543" y="3182112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72033"/>
                </a:solidFill>
                <a:latin typeface="Microsoft YaHei"/>
              </a:rPr>
              <a:t>坐标轴、图例、面板与必要标注是否齐全？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41064" y="3182112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72033"/>
                </a:solidFill>
                <a:latin typeface="Microsoft YaHei"/>
              </a:rPr>
              <a:t>找单图或完整图，不裁面板。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3712463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172033"/>
                </a:solidFill>
                <a:latin typeface="Microsoft YaHei"/>
              </a:rPr>
              <a:t>访问与权利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66543" y="3712463"/>
            <a:ext cx="1691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72033"/>
                </a:solidFill>
                <a:latin typeface="Microsoft YaHei"/>
              </a:rPr>
              <a:t>OA、订阅、仓储或许可依据是否已记录？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41064" y="3712463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172033"/>
                </a:solidFill>
                <a:latin typeface="Microsoft YaHei"/>
              </a:rPr>
              <a:t>仅保留元数据或请求许可。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1481328"/>
            <a:ext cx="27432" cy="3182112"/>
          </a:xfrm>
          <a:prstGeom prst="rect">
            <a:avLst/>
          </a:prstGeom>
          <a:solidFill>
            <a:srgbClr val="2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67728" y="1444752"/>
            <a:ext cx="4526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02A43"/>
                </a:solidFill>
                <a:latin typeface="Microsoft YaHei"/>
              </a:rPr>
              <a:t>论文与平台访问的优先顺序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8" y="1874519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63D3D"/>
                </a:solidFill>
                <a:latin typeface="Microsoft YaHe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1874519"/>
            <a:ext cx="3611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102A43"/>
                </a:solidFill>
                <a:latin typeface="Microsoft YaHei"/>
              </a:rPr>
              <a:t>DOI与出版社正式页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2103120"/>
            <a:ext cx="39136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C6B7A"/>
                </a:solidFill>
                <a:latin typeface="Microsoft YaHei"/>
              </a:rPr>
              <a:t>核对题名、版本、图号与正式图题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8" y="2514600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63D3D"/>
                </a:solidFill>
                <a:latin typeface="Microsoft YaHe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2514600"/>
            <a:ext cx="3611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102A43"/>
                </a:solidFill>
                <a:latin typeface="Microsoft YaHei"/>
              </a:rPr>
              <a:t>OA/官方原图/补充材料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2743200"/>
            <a:ext cx="39136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C6B7A"/>
                </a:solidFill>
                <a:latin typeface="Microsoft YaHei"/>
              </a:rPr>
              <a:t>优先出版商提供的完整单图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3154679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63D3D"/>
                </a:solidFill>
                <a:latin typeface="Microsoft YaHe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3154679"/>
            <a:ext cx="3611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102A43"/>
                </a:solidFill>
                <a:latin typeface="Microsoft YaHei"/>
              </a:rPr>
              <a:t>机构订阅或作者仓储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3383279"/>
            <a:ext cx="39136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C6B7A"/>
                </a:solidFill>
                <a:latin typeface="Microsoft YaHei"/>
              </a:rPr>
              <a:t>记录访问依据与内部使用边界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67728" y="3794759"/>
            <a:ext cx="237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63D3D"/>
                </a:solidFill>
                <a:latin typeface="Microsoft YaHe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3794759"/>
            <a:ext cx="3611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0" b="1">
                <a:solidFill>
                  <a:srgbClr val="102A43"/>
                </a:solidFill>
                <a:latin typeface="Microsoft YaHei"/>
              </a:rPr>
              <a:t>无法合法取得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4023359"/>
            <a:ext cx="39136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C6B7A"/>
                </a:solidFill>
                <a:latin typeface="Microsoft YaHei"/>
              </a:rPr>
              <a:t>登记失败；不用缩略图或二次转载替代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5230368"/>
            <a:ext cx="10195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2A43"/>
                </a:solidFill>
                <a:latin typeface="Microsoft YaHei"/>
              </a:rPr>
              <a:t>访问控制不是技术障碍的“绕过目标”，而是素材权利与公开边界的一部分。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6190488"/>
            <a:ext cx="11000232" cy="10972"/>
          </a:xfrm>
          <a:prstGeom prst="rect">
            <a:avLst/>
          </a:prstGeom>
          <a:solidFill>
            <a:srgbClr val="CA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6318504"/>
            <a:ext cx="5257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5C6B7A"/>
                </a:solidFill>
                <a:latin typeface="Microsoft YaHei"/>
              </a:rPr>
              <a:t>Source: Evidence-First PPT Workflow v1.0.2 · 真实素材与期刊访问规范。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16168" y="631850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02A43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468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C7A5A"/>
                </a:solidFill>
                <a:latin typeface="Microsoft YaHei"/>
              </a:rPr>
              <a:t>三、构建与交付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02A43"/>
                </a:solidFill>
                <a:latin typeface="Microsoft YaHei"/>
              </a:rPr>
              <a:t>自动检查与人工放映共同决定“可交付”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87552"/>
            <a:ext cx="658368" cy="41148"/>
          </a:xfrm>
          <a:prstGeom prst="rect">
            <a:avLst/>
          </a:prstGeom>
          <a:solidFill>
            <a:srgbClr val="C4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9888" y="923544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6B7A"/>
                </a:solidFill>
                <a:latin typeface="Microsoft YaHei"/>
              </a:rPr>
              <a:t>结构正确不等于放映可读；渲染好看也不等于来源、公式和版本已通过审计。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481328"/>
            <a:ext cx="694944" cy="512064"/>
          </a:xfrm>
          <a:prstGeom prst="rect">
            <a:avLst/>
          </a:prstGeom>
          <a:solidFill>
            <a:srgbClr val="2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45920"/>
            <a:ext cx="6949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1490472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A43"/>
                </a:solidFill>
                <a:latin typeface="Microsoft YaHei"/>
              </a:rPr>
              <a:t>PPTX结构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1499616"/>
            <a:ext cx="2962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172033"/>
                </a:solidFill>
                <a:latin typeface="Microsoft YaHei"/>
              </a:rPr>
              <a:t>页数、越界、文字重叠、字体、页码与裁剪值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55064"/>
            <a:ext cx="219456" cy="164592"/>
          </a:xfrm>
          <a:prstGeom prst="rect">
            <a:avLst/>
          </a:prstGeom>
          <a:solidFill>
            <a:srgbClr val="2C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11696" y="1627632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5C6B7A"/>
                </a:solidFill>
                <a:latin typeface="Microsoft YaHei"/>
              </a:rPr>
              <a:t>通过后进入下一道门禁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0280"/>
            <a:ext cx="694944" cy="512064"/>
          </a:xfrm>
          <a:prstGeom prst="rect">
            <a:avLst/>
          </a:prstGeom>
          <a:solidFill>
            <a:srgbClr val="C4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04872"/>
            <a:ext cx="6949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9344" y="2249424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A43"/>
                </a:solidFill>
                <a:latin typeface="Microsoft YaHei"/>
              </a:rPr>
              <a:t>素材证据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2258568"/>
            <a:ext cx="2962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172033"/>
                </a:solidFill>
                <a:latin typeface="Microsoft YaHei"/>
              </a:rPr>
              <a:t>文件哈希、图号、来源、变量、权利与使用范围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414016"/>
            <a:ext cx="219456" cy="164592"/>
          </a:xfrm>
          <a:prstGeom prst="rect">
            <a:avLst/>
          </a:prstGeom>
          <a:solidFill>
            <a:srgbClr val="C4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11696" y="2386584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5C6B7A"/>
                </a:solidFill>
                <a:latin typeface="Microsoft YaHei"/>
              </a:rPr>
              <a:t>通过后进入下一道门禁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999232"/>
            <a:ext cx="694944" cy="512064"/>
          </a:xfrm>
          <a:prstGeom prst="rect">
            <a:avLst/>
          </a:prstGeom>
          <a:solidFill>
            <a:srgbClr val="2E5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163824"/>
            <a:ext cx="6949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9344" y="3008376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A43"/>
                </a:solidFill>
                <a:latin typeface="Microsoft YaHei"/>
              </a:rPr>
              <a:t>全量渲染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3017520"/>
            <a:ext cx="2962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172033"/>
                </a:solidFill>
                <a:latin typeface="Microsoft YaHei"/>
              </a:rPr>
              <a:t>PowerPoint导出、缩略图总览、重点页原尺寸检查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172968"/>
            <a:ext cx="219456" cy="164592"/>
          </a:xfrm>
          <a:prstGeom prst="rect">
            <a:avLst/>
          </a:prstGeom>
          <a:solidFill>
            <a:srgbClr val="2E5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11696" y="3145536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5C6B7A"/>
                </a:solidFill>
                <a:latin typeface="Microsoft YaHei"/>
              </a:rPr>
              <a:t>通过后进入下一道门禁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758183"/>
            <a:ext cx="694944" cy="512064"/>
          </a:xfrm>
          <a:prstGeom prst="rect">
            <a:avLst/>
          </a:prstGeom>
          <a:solidFill>
            <a:srgbClr val="C6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922775"/>
            <a:ext cx="6949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3767327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A43"/>
                </a:solidFill>
                <a:latin typeface="Microsoft YaHei"/>
              </a:rPr>
              <a:t>交付一致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36392" y="3776471"/>
            <a:ext cx="2962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172033"/>
                </a:solidFill>
                <a:latin typeface="Microsoft YaHei"/>
              </a:rPr>
              <a:t>批准文件、交付副本、哈希、例外与已知限制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931920"/>
            <a:ext cx="219456" cy="164592"/>
          </a:xfrm>
          <a:prstGeom prst="rect">
            <a:avLst/>
          </a:prstGeom>
          <a:solidFill>
            <a:srgbClr val="C6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11696" y="3904487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>
                <a:solidFill>
                  <a:srgbClr val="5C6B7A"/>
                </a:solidFill>
                <a:latin typeface="Microsoft YaHei"/>
              </a:rPr>
              <a:t>通过后进入下一道门禁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1481328"/>
            <a:ext cx="27432" cy="3136392"/>
          </a:xfrm>
          <a:prstGeom prst="rect">
            <a:avLst/>
          </a:prstGeom>
          <a:solidFill>
            <a:srgbClr val="C49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1453896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2A43"/>
                </a:solidFill>
                <a:latin typeface="Microsoft YaHei"/>
              </a:rPr>
              <a:t>不得交付的情形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1901952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63D3D"/>
                </a:solidFill>
                <a:latin typeface="Microsoft YaHei"/>
              </a:rPr>
              <a:t>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14432" y="1901952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科研图被裁断或混入论文正文；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2468880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63D3D"/>
                </a:solidFill>
                <a:latin typeface="Microsoft YaHei"/>
              </a:rPr>
              <a:t>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14432" y="2468880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公式以普通文本或错误符号模拟；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3035808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63D3D"/>
                </a:solidFill>
                <a:latin typeface="Microsoft YaHei"/>
              </a:rPr>
              <a:t>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14432" y="3035808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页面信息不足、来源缺失或结论无证据；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360273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63D3D"/>
                </a:solidFill>
                <a:latin typeface="Microsoft YaHei"/>
              </a:rPr>
              <a:t>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14432" y="3602736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正式PPT与交付副本不是同一版本。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5212080"/>
            <a:ext cx="10222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2A43"/>
                </a:solidFill>
                <a:latin typeface="Microsoft YaHei"/>
              </a:rPr>
              <a:t>交付定义：事实可追溯、图件完整、公式正确、页面可读、版本一致，并已完成五至八轮复核记录。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6190488"/>
            <a:ext cx="11000232" cy="10972"/>
          </a:xfrm>
          <a:prstGeom prst="rect">
            <a:avLst/>
          </a:prstGeom>
          <a:solidFill>
            <a:srgbClr val="CA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6318504"/>
            <a:ext cx="5257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5C6B7A"/>
                </a:solidFill>
                <a:latin typeface="Microsoft YaHei"/>
              </a:rPr>
              <a:t>Source: Evidence-First PPT Workflow v1.0.2 · QA与交付验收标准。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16168" y="631850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02A43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Evidence-First Academic PPT Five-Slide Demo</dc:title>
  <dc:subject>Synthetic, privacy-safe academic presentation workflow example</dc:subject>
  <dc:creator>Evidence-First PPT Workflow contributors</dc:creator>
  <cp:keywords>academic presentation; evidence-first; privacy-safe; example</cp:keywords>
  <dc:description>No institutional template, private information, third-party figure, or user material is embedded.</dc:description>
  <cp:lastModifiedBy>Evidence-First PPT Workflow contributors</cp:lastModifiedBy>
  <cp:revision>1</cp:revision>
  <dcterms:created xsi:type="dcterms:W3CDTF">2013-01-27T09:14:16Z</dcterms:created>
  <dcterms:modified xsi:type="dcterms:W3CDTF">2013-01-27T09:15:58Z</dcterms:modified>
  <cp:category/>
</cp:coreProperties>
</file>